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81fe6679f4348" /><Relationship Type="http://schemas.openxmlformats.org/officeDocument/2006/relationships/extended-properties" Target="/docProps/app.xml" Id="R4d20e614670f46fb" /><Relationship Type="http://schemas.openxmlformats.org/officeDocument/2006/relationships/officeDocument" Target="/ppt/presentation.xml" Id="R2dcde760231d41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4a75ee81f2415b"/>
  </p:sldMasterIdLst>
  <p:notesMasterIdLst>
    <p:notesMasterId xmlns:r="http://schemas.openxmlformats.org/officeDocument/2006/relationships" r:id="R86a75d5c8c49411e"/>
  </p:notesMasterIdLst>
  <p:sldIdLst>
    <p:sldId xmlns:r="http://schemas.openxmlformats.org/officeDocument/2006/relationships" id="256" r:id="R7327eaa534554cd5"/>
    <p:sldId xmlns:r="http://schemas.openxmlformats.org/officeDocument/2006/relationships" id="257" r:id="R2c2bc9daf9504b11"/>
    <p:sldId xmlns:r="http://schemas.openxmlformats.org/officeDocument/2006/relationships" id="258" r:id="R2cff1d1c34494d22"/>
    <p:sldId xmlns:r="http://schemas.openxmlformats.org/officeDocument/2006/relationships" id="259" r:id="R37496c1d86124ff9"/>
    <p:sldId xmlns:r="http://schemas.openxmlformats.org/officeDocument/2006/relationships" id="260" r:id="Rc4a18e606cae48a8"/>
    <p:sldId xmlns:r="http://schemas.openxmlformats.org/officeDocument/2006/relationships" id="261" r:id="Rc491a5592aca4a04"/>
    <p:sldId xmlns:r="http://schemas.openxmlformats.org/officeDocument/2006/relationships" id="262" r:id="R152e99b8b88948a4"/>
    <p:sldId xmlns:r="http://schemas.openxmlformats.org/officeDocument/2006/relationships" id="263" r:id="R18aae529980b44cc"/>
    <p:sldId xmlns:r="http://schemas.openxmlformats.org/officeDocument/2006/relationships" id="264" r:id="Rb03e503723e64bc3"/>
    <p:sldId xmlns:r="http://schemas.openxmlformats.org/officeDocument/2006/relationships" id="265" r:id="Rae0ed9b3ef13426d"/>
    <p:sldId xmlns:r="http://schemas.openxmlformats.org/officeDocument/2006/relationships" id="266" r:id="Re5a7d7bb1d2c49a6"/>
    <p:sldId xmlns:r="http://schemas.openxmlformats.org/officeDocument/2006/relationships" id="267" r:id="R4e46a0cc9e7a4b44"/>
    <p:sldId xmlns:r="http://schemas.openxmlformats.org/officeDocument/2006/relationships" id="268" r:id="Rc06f5d077fca488b"/>
    <p:sldId xmlns:r="http://schemas.openxmlformats.org/officeDocument/2006/relationships" id="269" r:id="Rd26a8bccc4834399"/>
    <p:sldId xmlns:r="http://schemas.openxmlformats.org/officeDocument/2006/relationships" id="270" r:id="R8bda1e333cd8488f"/>
    <p:sldId xmlns:r="http://schemas.openxmlformats.org/officeDocument/2006/relationships" id="271" r:id="R5bf19885937f4824"/>
    <p:sldId xmlns:r="http://schemas.openxmlformats.org/officeDocument/2006/relationships" id="272" r:id="R7d1674bba3334b70"/>
    <p:sldId xmlns:r="http://schemas.openxmlformats.org/officeDocument/2006/relationships" id="273" r:id="R0ae6bc4cac944766"/>
    <p:sldId xmlns:r="http://schemas.openxmlformats.org/officeDocument/2006/relationships" id="274" r:id="R14fcd6191de446ca"/>
    <p:sldId xmlns:r="http://schemas.openxmlformats.org/officeDocument/2006/relationships" id="275" r:id="R6f5c1665e7ab4c18"/>
    <p:sldId xmlns:r="http://schemas.openxmlformats.org/officeDocument/2006/relationships" id="276" r:id="R012b8d8816774cf6"/>
    <p:sldId xmlns:r="http://schemas.openxmlformats.org/officeDocument/2006/relationships" id="277" r:id="Rba17996fc5ef4d91"/>
    <p:sldId xmlns:r="http://schemas.openxmlformats.org/officeDocument/2006/relationships" id="278" r:id="R7d7aa3c003854f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a4ff06b640492e" /><Relationship Type="http://schemas.openxmlformats.org/officeDocument/2006/relationships/slideMaster" Target="/ppt/slideMasters/slideMaster1.xml" Id="R4d4a75ee81f2415b" /><Relationship Type="http://schemas.openxmlformats.org/officeDocument/2006/relationships/notesMaster" Target="/ppt/notesMasters/notesMaster1.xml" Id="R86a75d5c8c49411e" /><Relationship Type="http://schemas.openxmlformats.org/officeDocument/2006/relationships/presProps" Target="/ppt/presProps.xml" Id="R6f34d257d96a4d88" /><Relationship Type="http://schemas.openxmlformats.org/officeDocument/2006/relationships/tableStyles" Target="/ppt/tableStyles.xml" Id="R4d8cdec0a8bd4630" /><Relationship Type="http://schemas.openxmlformats.org/officeDocument/2006/relationships/slide" Target="/ppt/slides/slide1.xml" Id="R7327eaa534554cd5" /><Relationship Type="http://schemas.openxmlformats.org/officeDocument/2006/relationships/slide" Target="/ppt/slides/slide2.xml" Id="R2c2bc9daf9504b11" /><Relationship Type="http://schemas.openxmlformats.org/officeDocument/2006/relationships/slide" Target="/ppt/slides/slide3.xml" Id="R2cff1d1c34494d22" /><Relationship Type="http://schemas.openxmlformats.org/officeDocument/2006/relationships/slide" Target="/ppt/slides/slide4.xml" Id="R37496c1d86124ff9" /><Relationship Type="http://schemas.openxmlformats.org/officeDocument/2006/relationships/slide" Target="/ppt/slides/slide5.xml" Id="Rc4a18e606cae48a8" /><Relationship Type="http://schemas.openxmlformats.org/officeDocument/2006/relationships/slide" Target="/ppt/slides/slide6.xml" Id="Rc491a5592aca4a04" /><Relationship Type="http://schemas.openxmlformats.org/officeDocument/2006/relationships/slide" Target="/ppt/slides/slide7.xml" Id="R152e99b8b88948a4" /><Relationship Type="http://schemas.openxmlformats.org/officeDocument/2006/relationships/slide" Target="/ppt/slides/slide8.xml" Id="R18aae529980b44cc" /><Relationship Type="http://schemas.openxmlformats.org/officeDocument/2006/relationships/slide" Target="/ppt/slides/slide9.xml" Id="Rb03e503723e64bc3" /><Relationship Type="http://schemas.openxmlformats.org/officeDocument/2006/relationships/slide" Target="/ppt/slides/slide10.xml" Id="Rae0ed9b3ef13426d" /><Relationship Type="http://schemas.openxmlformats.org/officeDocument/2006/relationships/slide" Target="/ppt/slides/slide11.xml" Id="Re5a7d7bb1d2c49a6" /><Relationship Type="http://schemas.openxmlformats.org/officeDocument/2006/relationships/slide" Target="/ppt/slides/slide12.xml" Id="R4e46a0cc9e7a4b44" /><Relationship Type="http://schemas.openxmlformats.org/officeDocument/2006/relationships/slide" Target="/ppt/slides/slide13.xml" Id="Rc06f5d077fca488b" /><Relationship Type="http://schemas.openxmlformats.org/officeDocument/2006/relationships/slide" Target="/ppt/slides/slide14.xml" Id="Rd26a8bccc4834399" /><Relationship Type="http://schemas.openxmlformats.org/officeDocument/2006/relationships/slide" Target="/ppt/slides/slide15.xml" Id="R8bda1e333cd8488f" /><Relationship Type="http://schemas.openxmlformats.org/officeDocument/2006/relationships/slide" Target="/ppt/slides/slide16.xml" Id="R5bf19885937f4824" /><Relationship Type="http://schemas.openxmlformats.org/officeDocument/2006/relationships/slide" Target="/ppt/slides/slide17.xml" Id="R7d1674bba3334b70" /><Relationship Type="http://schemas.openxmlformats.org/officeDocument/2006/relationships/slide" Target="/ppt/slides/slide18.xml" Id="R0ae6bc4cac944766" /><Relationship Type="http://schemas.openxmlformats.org/officeDocument/2006/relationships/slide" Target="/ppt/slides/slide19.xml" Id="R14fcd6191de446ca" /><Relationship Type="http://schemas.openxmlformats.org/officeDocument/2006/relationships/slide" Target="/ppt/slides/slide20.xml" Id="R6f5c1665e7ab4c18" /><Relationship Type="http://schemas.openxmlformats.org/officeDocument/2006/relationships/slide" Target="/ppt/slides/slide21.xml" Id="R012b8d8816774cf6" /><Relationship Type="http://schemas.openxmlformats.org/officeDocument/2006/relationships/slide" Target="/ppt/slides/slide22.xml" Id="Rba17996fc5ef4d91" /><Relationship Type="http://schemas.openxmlformats.org/officeDocument/2006/relationships/slide" Target="/ppt/slides/slide23.xml" Id="R7d7aa3c003854f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3eddccb7c84a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3b2ab693424eb9" /><Relationship Type="http://schemas.openxmlformats.org/officeDocument/2006/relationships/notesMaster" Target="/ppt/notesMasters/notesMaster1.xml" Id="R30b4366770a245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0abae8b42042a5" /><Relationship Type="http://schemas.openxmlformats.org/officeDocument/2006/relationships/notesMaster" Target="/ppt/notesMasters/notesMaster1.xml" Id="R1aec36d676604e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c75923214c4c0f" /><Relationship Type="http://schemas.openxmlformats.org/officeDocument/2006/relationships/notesMaster" Target="/ppt/notesMasters/notesMaster1.xml" Id="R3be88fe7388348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95016c525f45b7" /><Relationship Type="http://schemas.openxmlformats.org/officeDocument/2006/relationships/notesMaster" Target="/ppt/notesMasters/notesMaster1.xml" Id="R2ea15ab8332442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818ff0b492453e" /><Relationship Type="http://schemas.openxmlformats.org/officeDocument/2006/relationships/notesMaster" Target="/ppt/notesMasters/notesMaster1.xml" Id="R85e29aad80ab45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016153ad8143f9" /><Relationship Type="http://schemas.openxmlformats.org/officeDocument/2006/relationships/notesMaster" Target="/ppt/notesMasters/notesMaster1.xml" Id="Rb65c1651ec4f41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847020369549d0" /><Relationship Type="http://schemas.openxmlformats.org/officeDocument/2006/relationships/notesMaster" Target="/ppt/notesMasters/notesMaster1.xml" Id="Ra4f0cd549cd645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9bc0a5970b402e" /><Relationship Type="http://schemas.openxmlformats.org/officeDocument/2006/relationships/notesMaster" Target="/ppt/notesMasters/notesMaster1.xml" Id="R42db3cb8c70a4f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c0866ad3d54602" /><Relationship Type="http://schemas.openxmlformats.org/officeDocument/2006/relationships/notesMaster" Target="/ppt/notesMasters/notesMaster1.xml" Id="Rae6505848d924a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47bebba0ec4fac" /><Relationship Type="http://schemas.openxmlformats.org/officeDocument/2006/relationships/notesMaster" Target="/ppt/notesMasters/notesMaster1.xml" Id="Rae6a4dd54c0b43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2c58e97fbf44b9" /><Relationship Type="http://schemas.openxmlformats.org/officeDocument/2006/relationships/notesMaster" Target="/ppt/notesMasters/notesMaster1.xml" Id="Rf89b012dc49247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74998fd1a04663" /><Relationship Type="http://schemas.openxmlformats.org/officeDocument/2006/relationships/notesMaster" Target="/ppt/notesMasters/notesMaster1.xml" Id="R9db2e7ebb25541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e0d66518954f52" /><Relationship Type="http://schemas.openxmlformats.org/officeDocument/2006/relationships/notesMaster" Target="/ppt/notesMasters/notesMaster1.xml" Id="Raf9ef358b22d43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dc67cc65274bfe" /><Relationship Type="http://schemas.openxmlformats.org/officeDocument/2006/relationships/notesMaster" Target="/ppt/notesMasters/notesMaster1.xml" Id="R8ab73994eaa24d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3e7ea0955b4cfb" /><Relationship Type="http://schemas.openxmlformats.org/officeDocument/2006/relationships/notesMaster" Target="/ppt/notesMasters/notesMaster1.xml" Id="R773275ab670f41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d0f3e9de4b41d2" /><Relationship Type="http://schemas.openxmlformats.org/officeDocument/2006/relationships/notesMaster" Target="/ppt/notesMasters/notesMaster1.xml" Id="R97e38b7dde3a40e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0fb91004aa44c0" /><Relationship Type="http://schemas.openxmlformats.org/officeDocument/2006/relationships/notesMaster" Target="/ppt/notesMasters/notesMaster1.xml" Id="R1ff3669f5b084e3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aef41cbe674555" /><Relationship Type="http://schemas.openxmlformats.org/officeDocument/2006/relationships/notesMaster" Target="/ppt/notesMasters/notesMaster1.xml" Id="R0d9a7ed8b1454de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9dc8aca0c7c486d" /><Relationship Type="http://schemas.openxmlformats.org/officeDocument/2006/relationships/notesMaster" Target="/ppt/notesMasters/notesMaster1.xml" Id="R1922884c62bd4bf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66334bcc4d14b91" /><Relationship Type="http://schemas.openxmlformats.org/officeDocument/2006/relationships/notesMaster" Target="/ppt/notesMasters/notesMaster1.xml" Id="R4004e5b4236e442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dbb0752285744a5" /><Relationship Type="http://schemas.openxmlformats.org/officeDocument/2006/relationships/notesMaster" Target="/ppt/notesMasters/notesMaster1.xml" Id="Rde6810d63def424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6932720a461418d" /><Relationship Type="http://schemas.openxmlformats.org/officeDocument/2006/relationships/notesMaster" Target="/ppt/notesMasters/notesMaster1.xml" Id="R87435a858d8f484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f2fb99415bc4f4c" /><Relationship Type="http://schemas.openxmlformats.org/officeDocument/2006/relationships/notesMaster" Target="/ppt/notesMasters/notesMaster1.xml" Id="Ra58785fcf58940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本项目面向离线 UTF-8 纯文本编辑。先演示两端行为，再解释间隙缓冲区、历史双栈与 KMP。报告按源码区分自行实现和平台复用。个人姓名、学号和班级由提交者在封面填写。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大纲设置一周15学时。正文给出报告30%和演示答辩70%，但分项权重有不一致，应以教师最终要求为准。不能将此演示中的扩展设计计入现有功能。来源：docs/数据结构课程设计教学大纲.docx，第五、七节。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本项目不包含富文本、云同步、语法高亮与多标签。单次替换复用普通编辑命令，因此能够撤销。来源：README.md、EditorModel、EditorViewModel.open。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Windows 通过 DocumentFilter 适配，Android 通过输入连接和 TextEdits 提交一次差异编辑。两端编译同一份 editor-core 源码，核心没有 Swing、Android、Path 或 URI 依赖。来源：README.md、EditorBinding.java、CoreEditText.java、TextEdits.java。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计数去重：数组和ArrayList合为顺序表，双栈算栈一种，ArrayDeque底层不再计数。映射仅指键值查询语义，不称为自行实现哈希表。一般树指组件树。来源：报告第4章的逐项证据。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示例原文ABCDE，在B后插入X。物理存储由有效前缀、空白间隙和有效后缀组成。逻辑长度等于容量减间隙宽度。charAt按间隙前后分支映射逻辑下标。来源：editor-core/src/main/java/txteditor/core/GapBuffer.java:7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pBuffer.replace本身不复制删除文本，主要成本为移动d和写入k。EditorModel.replace为撤销先提取删除内容r，因此完整模型调用多出O(r)。局部连续输入在无扩容时摊还较低，不能说整次按键响应O(1)。来源：GapBuffer.replace、EditorModel.replace。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fix[i]代表模式前i+1个字符的最长真前后缀长度。项目每次查询都会重新构建前缀表，没有模式缓存。6,000组随机结果与String.indexOf对照，生产代码直接读GapBuffer，不先导出String调用indexOf。来源：editor-core/src/main/java/txteditor/core/Kmp.java:10；editor-core/src/test/java/txteditor/core/CoreTest.java:68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Edit保存起点、删除文本、插入文本、原选区和完成光标。普通编辑压入undo并清空redo，撤销用removed反向替换后转移到redo，重做再正向替换。105次编辑仅能撤销100次。两个栈仍只算一种数据结构。来源：editor-core/src/main/java/txteditor/core/EditorModel.java:10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核心模型仍只在UI线程使用。队列串行化I/O，不能将排队时延说成O(1)。保存前先写recovery.bin，写URI成功后再清理恢复副本。来源：editor-android/src/main/java/txteditor/android/EditorViewModel.java:25，EditorViewModel.save/persist。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Ctrl+F绑定名为“查找…”的动作，调用showSearch(false)。InputMap和ActionMap各承担一级映射，共同复用同一个Action。来源：editor-windows/src/main/java/txteditor/windows/EditorWindow.java:178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棵树表达真实Swing容器关系。组件树是框架维护的结构，应用用add构建，GuiTest通过getComponents递归寻找控件。它不是AVL树、搜索树或文档索引。遍历T个组件为O(T)，递归空间O(H)。来源：editor-windows/src/main/java/txteditor/windows/EditorWindow.java:83；editor-windows/src/test/java/txteditor/windows/GuiTest.java:159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orModel.checkRange同时校验区间和代理项边界，TextCodec拒绝孤立代理项。Android平台删半个表情时适配层规范化，再形成一条核心编辑。码点计数不能等同于组合字符或ZWJ表情的视觉字符数。来源：editor-core/src/main/java/txteditor/core/EditorModel.java:42；editor-core/src/main/java/txteditor/core/TextCodec.java:18；editor-android/src/main/java/txteditor/android/TextEdits.java:30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ndows先写同目录pending并force，再尝试原子替换，不支持时备份旧文件后普通替换，失败尝试恢复并保留恢复路径。Android的SAF提供者不保证原子覆盖，因此先写私有恢复副本。成功后才更新保存基准。来源：editor-windows/src/main/java/txteditor/windows/SafeFiles.java:23；EditorViewModel.save。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来自实际Swing根组件渲染，不能当作Windows系统截图或真人输入法证据。右图来自Android模拟器实际APK截图。小屏、横屏键盘和大字体的历史验证详见模块测试报告。本轮没有重跑完整GUI或Android设备回归。来源：editor-windows/build/preview-light.png、editor-android/previews/light.png。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这些数字是断言检查数，不是48,448个独立测试用例。Android Lint和发布包检查来自README记录的前一轮验证，本轮资料制作没有再次构建APK。历史测试范围与新测试结果分开呈现。来源：README.md、两端TEST-REPORT.md、本轮build.ps1与AdapterTest输出。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续输入与随机修改是整批操作的耗时，并非单键时延。原始CSV还有最大值与10000单元粘贴。较大规模偶尔更快受到JIT、缓存和调度影响，不能据此推断复杂度下降。来源：editor-core/benchmark-results.csv、Benchmark.java。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Windows TEST-REPORT还含界面升级后的另一批实验，报告与本PPT统一选用根级原始CSV，避免混合数值。分段指标低于策划书目标，仍不能证明端到端交互全面达标。Android完整UI时延未测。来源：editor-windows/benchmark-results.csv、TEST-REPORT.md。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主讲可按报告中的6分钟脚本执行，算法细节页用于问题答辩。安装器尚未商业代码签名，不要把签名校验通过说成商业可信发行。下载和构建以README及v1.1.0发布包为准。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共讨论13项，其中6项是当前结构应用，7项是扩展设计。13项分析不能写成13种现有结构，树的不同实现也不能机械相加。若教师要求12到15种实际实现，需要先批准新增业务范围，再开发与测试，当前交付不虚构达成。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扩展设计图，不表示现有代码已经保存图。顶点是未来文档ID，边是文档引用。邻接表支持BFS遍历，visited防止环导致无限访问。课程要强调图时，可选这一条有真实功能需求的扩展，而不把架构图当图数据结构。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AVL长度索引解决片段数量上升后的线性定位问题。其成本分析以P个节点的平衡树为前提，插入的字符串写入仍需O(k)。当前项目无需为了数量替换稳定的小文本核心。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可重点回答为什么选间隙缓冲、撤销如何恢复选区、KMP为什么线性、为什么核心复杂度不等于GUI时延，以及SAF保存失败如何恢复。课程要求与实装之间的数量差距已在报告明确说明。</a:t>
            </a:r>
          </a:p>
          <a:p xmlns:a="http://schemas.openxmlformats.org/drawingml/2006/main">
            <a:r>
              <a:t>技术基线：6210916fd25b667cb195781fdd012872dcccd9c4。主报告与本演示使用同一份数据口径。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5a03e8ce8b45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48b694a5843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77e76798e743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96abd365a44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896e60f7640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8313523c24b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FA82EE-16C2-4F0C-B59F-922B9AA7FA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06404F-0AB2-489D-B15B-9837F24600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21AC00-E921-493F-94D7-6456D0214E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CA812E-F658-4A45-8D41-5E1DF1E53C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3AF926-1E88-420B-B815-160707E607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868678-AA48-486D-A6A2-E24B5E0BE4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CAF77A-6366-4129-94FD-2C8EA189FB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E7B6BA-9F7C-48AA-8151-7968F3B3E2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8ACCAC-6CC6-4584-8B23-B16609B514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CED55E-96AE-4C65-ABB7-C8FA50911F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9c1ba0a69c4212" /><Relationship Type="http://schemas.openxmlformats.org/officeDocument/2006/relationships/slideLayout" Target="/ppt/slideLayouts/slideLayout1.xml" Id="Rd2e5d0839a474fbb" /><Relationship Type="http://schemas.openxmlformats.org/officeDocument/2006/relationships/slideLayout" Target="/ppt/slideLayouts/slideLayout2.xml" Id="R6fb275d9f4424000" /><Relationship Type="http://schemas.openxmlformats.org/officeDocument/2006/relationships/slideLayout" Target="/ppt/slideLayouts/slideLayout3.xml" Id="Ra97e398788044892" /><Relationship Type="http://schemas.openxmlformats.org/officeDocument/2006/relationships/slideLayout" Target="/ppt/slideLayouts/slideLayout4.xml" Id="Rff363d1de96d473f" /><Relationship Type="http://schemas.openxmlformats.org/officeDocument/2006/relationships/slideLayout" Target="/ppt/slideLayouts/slideLayout5.xml" Id="R900f2d1dc2304fdd" /><Relationship Type="http://schemas.openxmlformats.org/officeDocument/2006/relationships/slideLayout" Target="/ppt/slideLayouts/slideLayout6.xml" Id="R128532a6a00b48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e5d0839a474fbb"/>
    <p:sldLayoutId xmlns:r="http://schemas.openxmlformats.org/officeDocument/2006/relationships" id="2147483650" r:id="R6fb275d9f4424000"/>
    <p:sldLayoutId xmlns:r="http://schemas.openxmlformats.org/officeDocument/2006/relationships" id="2147483651" r:id="Ra97e398788044892"/>
    <p:sldLayoutId xmlns:r="http://schemas.openxmlformats.org/officeDocument/2006/relationships" id="2147483652" r:id="Rff363d1de96d473f"/>
    <p:sldLayoutId xmlns:r="http://schemas.openxmlformats.org/officeDocument/2006/relationships" id="2147483653" r:id="R900f2d1dc2304fdd"/>
    <p:sldLayoutId xmlns:r="http://schemas.openxmlformats.org/officeDocument/2006/relationships" id="2147483654" r:id="R128532a6a00b48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9e98175b8e4b05" /><Relationship Type="http://schemas.openxmlformats.org/officeDocument/2006/relationships/notesSlide" Target="/ppt/notesSlides/notesSlide1.xml" Id="R1644048ccbec4b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3d354312d4ff7" /><Relationship Type="http://schemas.openxmlformats.org/officeDocument/2006/relationships/notesSlide" Target="/ppt/notesSlides/notesSlide2.xml" Id="R9af59c7248b741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812cd666554532" /><Relationship Type="http://schemas.openxmlformats.org/officeDocument/2006/relationships/notesSlide" Target="/ppt/notesSlides/notesSlide3.xml" Id="Rb07494fa7d4f4a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1ddb511d4a4052" /><Relationship Type="http://schemas.openxmlformats.org/officeDocument/2006/relationships/notesSlide" Target="/ppt/notesSlides/notesSlide4.xml" Id="R2e5a969f331c4a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5f6e5bde34c08" /><Relationship Type="http://schemas.openxmlformats.org/officeDocument/2006/relationships/notesSlide" Target="/ppt/notesSlides/notesSlide5.xml" Id="R31ca6fcf14dd44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6f650264d1475b" /><Relationship Type="http://schemas.openxmlformats.org/officeDocument/2006/relationships/notesSlide" Target="/ppt/notesSlides/notesSlide6.xml" Id="Rc20afd4588014e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86b111cfab4fb1" /><Relationship Type="http://schemas.openxmlformats.org/officeDocument/2006/relationships/notesSlide" Target="/ppt/notesSlides/notesSlide7.xml" Id="R9c2483c3e36642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55662783434603" /><Relationship Type="http://schemas.openxmlformats.org/officeDocument/2006/relationships/notesSlide" Target="/ppt/notesSlides/notesSlide8.xml" Id="Rab4ec66cef7642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69abfc5b0424c" /><Relationship Type="http://schemas.openxmlformats.org/officeDocument/2006/relationships/notesSlide" Target="/ppt/notesSlides/notesSlide9.xml" Id="R981ec203cc4f4c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8c6034948e432a" /><Relationship Type="http://schemas.openxmlformats.org/officeDocument/2006/relationships/notesSlide" Target="/ppt/notesSlides/notesSlide10.xml" Id="Rb888a0da2d0e4c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8fed6a5fd24947" /><Relationship Type="http://schemas.openxmlformats.org/officeDocument/2006/relationships/notesSlide" Target="/ppt/notesSlides/notesSlide11.xml" Id="Rbf8a98a63eb942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f31ffa2904065" /><Relationship Type="http://schemas.openxmlformats.org/officeDocument/2006/relationships/notesSlide" Target="/ppt/notesSlides/notesSlide12.xml" Id="R4e3c5d0abd7d44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3b05f156c540bd" /><Relationship Type="http://schemas.openxmlformats.org/officeDocument/2006/relationships/notesSlide" Target="/ppt/notesSlides/notesSlide13.xml" Id="R86f0f43cfed94b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29e36b3fa94590" /><Relationship Type="http://schemas.openxmlformats.org/officeDocument/2006/relationships/notesSlide" Target="/ppt/notesSlides/notesSlide14.xml" Id="Re297c3acc21e47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8908e95ed64ee9" /><Relationship Type="http://schemas.openxmlformats.org/officeDocument/2006/relationships/image" Target="/ppt/media/image.png" Id="R655de7921abe4e72" /><Relationship Type="http://schemas.openxmlformats.org/officeDocument/2006/relationships/image" Target="/ppt/media/image2.png" Id="Rbd28aa3cc80042ad" /><Relationship Type="http://schemas.openxmlformats.org/officeDocument/2006/relationships/notesSlide" Target="/ppt/notesSlides/notesSlide15.xml" Id="Rd128b27eaf344e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74b421db884b30" /><Relationship Type="http://schemas.openxmlformats.org/officeDocument/2006/relationships/notesSlide" Target="/ppt/notesSlides/notesSlide16.xml" Id="R89e773d4961041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d4c0ded48c4fc8" /><Relationship Type="http://schemas.openxmlformats.org/officeDocument/2006/relationships/notesSlide" Target="/ppt/notesSlides/notesSlide17.xml" Id="Rc6db02565bce4d7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bbbb7b65f34d20" /><Relationship Type="http://schemas.openxmlformats.org/officeDocument/2006/relationships/notesSlide" Target="/ppt/notesSlides/notesSlide18.xml" Id="R6fa4fb34e0574b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37f8b01ea44614" /><Relationship Type="http://schemas.openxmlformats.org/officeDocument/2006/relationships/notesSlide" Target="/ppt/notesSlides/notesSlide19.xml" Id="R8da6a3f3fef94b3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b3e5a63baf4f74" /><Relationship Type="http://schemas.openxmlformats.org/officeDocument/2006/relationships/notesSlide" Target="/ppt/notesSlides/notesSlide20.xml" Id="R3f94ac28f117426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d5de29e1b447d6" /><Relationship Type="http://schemas.openxmlformats.org/officeDocument/2006/relationships/notesSlide" Target="/ppt/notesSlides/notesSlide21.xml" Id="R921f31b47fa34e4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b4962361fd4436" /><Relationship Type="http://schemas.openxmlformats.org/officeDocument/2006/relationships/notesSlide" Target="/ppt/notesSlides/notesSlide22.xml" Id="R4ba380e51c8d482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cefe6d5b3b4d29" /><Relationship Type="http://schemas.openxmlformats.org/officeDocument/2006/relationships/notesSlide" Target="/ppt/notesSlides/notesSlide23.xml" Id="R929d8b8b103d45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数据结构课程设计">
            <a:extLst xmlns:a="http://schemas.openxmlformats.org/drawingml/2006/main">
              <a:ext uri="{FF2B5EF4-FFF2-40B4-BE49-F238E27FC236}">
                <a16:creationId xmlns:a16="http://schemas.microsoft.com/office/drawing/2014/main" id="{3263E7B2-4EF0-4F3D-B541-42BFE451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B3CFD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B3CFD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B3CFD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B3CFD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B3CFD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B3CFD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B3CFD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B3CFD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B3CFD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B3CFD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3CF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3CFDF"/>
                </a:solidFill>
                <a:latin typeface="Microsoft YaHei"/>
                <a:ea typeface="Microsoft YaHei"/>
                <a:cs typeface="Microsoft YaHei"/>
              </a:rPr>
              <a:t>数据结构课程设计</a:t>
            </a:r>
          </a:p>
        </p:txBody>
      </p:sp>
      <p:sp>
        <p:nvSpPr>
          <p:cNvPr id="2" name="Java 双端文本编辑器">
            <a:extLst xmlns:a="http://schemas.openxmlformats.org/drawingml/2006/main">
              <a:ext uri="{FF2B5EF4-FFF2-40B4-BE49-F238E27FC236}">
                <a16:creationId xmlns:a16="http://schemas.microsoft.com/office/drawing/2014/main" id="{8F1C8213-1CD2-4FF5-8F4B-15FC2777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Java 双端文本编辑器</a:t>
            </a:r>
          </a:p>
        </p:txBody>
      </p:sp>
      <p:sp>
        <p:nvSpPr>
          <p:cNvPr id="3" name="数据结构课程设计成果答辩">
            <a:extLst xmlns:a="http://schemas.openxmlformats.org/drawingml/2006/main">
              <a:ext uri="{FF2B5EF4-FFF2-40B4-BE49-F238E27FC236}">
                <a16:creationId xmlns:a16="http://schemas.microsoft.com/office/drawing/2014/main" id="{F6988DDF-FA7E-4367-87C1-1326D34A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623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数据结构课程设计成果答辩</a:t>
            </a:r>
          </a:p>
        </p:txBody>
      </p:sp>
      <p:sp>
        <p:nvSpPr>
          <p:cNvPr id="4" name="共享 Java 核心　Android 与 Windows&#10;版">
            <a:extLst xmlns:a="http://schemas.openxmlformats.org/drawingml/2006/main">
              <a:ext uri="{FF2B5EF4-FFF2-40B4-BE49-F238E27FC236}">
                <a16:creationId xmlns:a16="http://schemas.microsoft.com/office/drawing/2014/main" id="{D8FB8A99-5EE9-4B78-BAB6-B2C23FEB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D6E3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D6E3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D6E3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D6E3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D6E3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D6E3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D6E3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D6E3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D6E3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D6E3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6E3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6E3ED"/>
                </a:solidFill>
                <a:latin typeface="Microsoft YaHei"/>
                <a:ea typeface="Microsoft YaHei"/>
                <a:cs typeface="Microsoft YaHei"/>
              </a:rPr>
              <a:t>共享 Java 核心　Android 与 Windows</a:t>
            </a:r>
          </a:p>
          <a:p xmlns:a="http://schemas.openxmlformats.org/drawingml/2006/main">
            <a:pPr>
              <a:defRPr sz="1875" b="0">
                <a:solidFill>
                  <a:srgbClr val="D6E3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6E3ED"/>
                </a:solidFill>
                <a:latin typeface="Microsoft YaHei"/>
                <a:ea typeface="Microsoft YaHei"/>
                <a:cs typeface="Microsoft YaHei"/>
              </a:rPr>
              <a:t>版本 v1.1.0　2026 年 10 月 28 日</a:t>
            </a:r>
          </a:p>
        </p:txBody>
      </p:sp>
    </p:spTree>
    <p:extLst>
      <p:ext uri="{BB962C8B-B14F-4D97-AF65-F5344CB8AC3E}">
        <p14:creationId xmlns:p14="http://schemas.microsoft.com/office/powerpoint/2010/main" val="16294719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课程要求与成果边界">
            <a:extLst xmlns:a="http://schemas.openxmlformats.org/drawingml/2006/main">
              <a:ext uri="{FF2B5EF4-FFF2-40B4-BE49-F238E27FC236}">
                <a16:creationId xmlns:a16="http://schemas.microsoft.com/office/drawing/2014/main" id="{0FAEF6BD-6305-4E32-83A4-1FC06F25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课程要求与成果边界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50E860A2-110C-47FE-98C8-E25F44E6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430E2962-9098-4F18-B2AF-A5A65C84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选题 17：简单的文本编辑器">
            <a:extLst xmlns:a="http://schemas.openxmlformats.org/drawingml/2006/main">
              <a:ext uri="{FF2B5EF4-FFF2-40B4-BE49-F238E27FC236}">
                <a16:creationId xmlns:a16="http://schemas.microsoft.com/office/drawing/2014/main" id="{00CF9F4C-300A-4B7D-9812-8DB5C216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764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选题 17：简单的文本编辑器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7EFBA4D1-112A-4F19-B99B-D51298EB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交付报告、可运行程序、测试证据与演示答辩">
            <a:extLst xmlns:a="http://schemas.openxmlformats.org/drawingml/2006/main">
              <a:ext uri="{FF2B5EF4-FFF2-40B4-BE49-F238E27FC236}">
                <a16:creationId xmlns:a16="http://schemas.microsoft.com/office/drawing/2014/main" id="{50BC4BBB-10EB-4002-855D-9C31A0E9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051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交付报告、可运行程序、测试证据与演示答辩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45A216FE-D5EA-46AD-9079-8FEBCF57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6 类已用结构，其中队列、映射和组件树为框架复用">
            <a:extLst xmlns:a="http://schemas.openxmlformats.org/drawingml/2006/main">
              <a:ext uri="{FF2B5EF4-FFF2-40B4-BE49-F238E27FC236}">
                <a16:creationId xmlns:a16="http://schemas.microsoft.com/office/drawing/2014/main" id="{4A044372-D8F7-4F62-A7ED-AC1BB3C6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6 类已用结构，其中队列、映射和组件树为框架复用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4FB2E57F-67B1-4D0B-8F67-E878B3E0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另列 7 项扩展设计，尚未达到 12～15 种已实现结构">
            <a:extLst xmlns:a="http://schemas.openxmlformats.org/drawingml/2006/main">
              <a:ext uri="{FF2B5EF4-FFF2-40B4-BE49-F238E27FC236}">
                <a16:creationId xmlns:a16="http://schemas.microsoft.com/office/drawing/2014/main" id="{7E2325DC-8CCC-4D10-9CD7-7AD594FD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625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另列 7 项扩展设计，尚未达到 12～15 种已实现结构</a:t>
            </a:r>
          </a:p>
        </p:txBody>
      </p:sp>
    </p:spTree>
    <p:extLst>
      <p:ext uri="{BB962C8B-B14F-4D97-AF65-F5344CB8AC3E}">
        <p14:creationId xmlns:p14="http://schemas.microsoft.com/office/powerpoint/2010/main" val="813825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功能与约束">
            <a:extLst xmlns:a="http://schemas.openxmlformats.org/drawingml/2006/main">
              <a:ext uri="{FF2B5EF4-FFF2-40B4-BE49-F238E27FC236}">
                <a16:creationId xmlns:a16="http://schemas.microsoft.com/office/drawing/2014/main" id="{7F9DDB24-0C22-48CC-AD9C-08536C19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功能与约束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499E1847-7A55-4FF4-AE60-97E8E101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8219B-F16B-4287-96ED-62E9DDACF30A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924800"/>
              </a:tblGrid>
              <a:tr h="8877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现有行为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8877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编辑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中文、表情、跨行选区、剪贴板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77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查找与历史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KMP 下一处、当前匹配替换、最近 100 条撤销重做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8877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严格 UTF-8，识别首 BOM，统一 LF，失败保留编辑内容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77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运行范围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离线、单窗口、单文档；Android 打开上限 16 MiB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5869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双端共享核心架构">
            <a:extLst xmlns:a="http://schemas.openxmlformats.org/drawingml/2006/main">
              <a:ext uri="{FF2B5EF4-FFF2-40B4-BE49-F238E27FC236}">
                <a16:creationId xmlns:a16="http://schemas.microsoft.com/office/drawing/2014/main" id="{F5F3B378-F78D-4870-B944-A3AE1F8C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双端共享核心架构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56E6CEBC-EBF8-4B15-B36B-4801D626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Windows Swing 界面">
            <a:extLst xmlns:a="http://schemas.openxmlformats.org/drawingml/2006/main">
              <a:ext uri="{FF2B5EF4-FFF2-40B4-BE49-F238E27FC236}">
                <a16:creationId xmlns:a16="http://schemas.microsoft.com/office/drawing/2014/main" id="{33149B0D-A230-45B3-8A42-B421097C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Windows Swing 界面</a:t>
            </a:r>
          </a:p>
        </p:txBody>
      </p:sp>
      <p:sp>
        <p:nvSpPr>
          <p:cNvPr id="4" name="Android 原生界面">
            <a:extLst xmlns:a="http://schemas.openxmlformats.org/drawingml/2006/main">
              <a:ext uri="{FF2B5EF4-FFF2-40B4-BE49-F238E27FC236}">
                <a16:creationId xmlns:a16="http://schemas.microsoft.com/office/drawing/2014/main" id="{CA38B697-CBCE-4514-92E6-96F065B7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954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Android 原生界面</a:t>
            </a:r>
          </a:p>
        </p:txBody>
      </p:sp>
      <p:sp>
        <p:nvSpPr>
          <p:cNvPr id="5" name="EditorBinding&#10;DocumentFilter">
            <a:extLst xmlns:a="http://schemas.openxmlformats.org/drawingml/2006/main">
              <a:ext uri="{FF2B5EF4-FFF2-40B4-BE49-F238E27FC236}">
                <a16:creationId xmlns:a16="http://schemas.microsoft.com/office/drawing/2014/main" id="{422CCBFB-7549-466F-9452-8FE2B9F9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00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EditorBinding</a:t>
            </a:r>
          </a:p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DocumentFilter</a:t>
            </a:r>
          </a:p>
        </p:txBody>
      </p:sp>
      <p:sp>
        <p:nvSpPr>
          <p:cNvPr id="6" name="CoreEditText / TextEdits&#10;输入连接与差异提交">
            <a:extLst xmlns:a="http://schemas.openxmlformats.org/drawingml/2006/main">
              <a:ext uri="{FF2B5EF4-FFF2-40B4-BE49-F238E27FC236}">
                <a16:creationId xmlns:a16="http://schemas.microsoft.com/office/drawing/2014/main" id="{5C2406A1-DA78-44EE-91B0-B173991A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400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CoreEditText / TextEdits</a:t>
            </a:r>
          </a:p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输入连接与差异提交</a:t>
            </a:r>
          </a:p>
        </p:txBody>
      </p:sp>
      <p:sp>
        <p:nvSpPr>
          <p:cNvPr id="7" name="共享 EditorModel&#10;GapBuffer   KMP   TextCodec   历史双栈">
            <a:extLst xmlns:a="http://schemas.openxmlformats.org/drawingml/2006/main">
              <a:ext uri="{FF2B5EF4-FFF2-40B4-BE49-F238E27FC236}">
                <a16:creationId xmlns:a16="http://schemas.microsoft.com/office/drawing/2014/main" id="{9A60BCF3-D7D6-47A0-98AB-D6A2BAE1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10100"/>
            <a:ext cx="4914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共享 EditorModel</a:t>
            </a:r>
          </a:p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GapBuffer   KMP   TextCodec   历史双栈</a:t>
            </a:r>
          </a:p>
        </p:txBody>
      </p:sp>
      <p:sp>
        <p:nvSpPr>
          <p:cNvPr id="8" name="同一份 Java 8 核心源码">
            <a:extLst xmlns:a="http://schemas.openxmlformats.org/drawingml/2006/main">
              <a:ext uri="{FF2B5EF4-FFF2-40B4-BE49-F238E27FC236}">
                <a16:creationId xmlns:a16="http://schemas.microsoft.com/office/drawing/2014/main" id="{1B3D058C-5FB7-4C9A-9340-A14399F0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同一份 Java 8 核心源码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DC968-E671-4965-9BBE-70E53897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384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D955E-B128-4CDB-B656-E18D3D0D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384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C5FA9-E19C-421D-A7B6-6DAA2405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433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F7037-AD7D-4E65-9511-CE704FBF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433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D8FB0-2DC1-4BD9-AE2A-0D3C54C1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48150"/>
            <a:ext cx="697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407E7-8668-42DD-A59F-1B200F8C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48150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6"/>
          </a:solidFill>
          <a:ln xmlns:a="http://schemas.openxmlformats.org/drawingml/2006/main" w="0">
            <a:noFill/>
          </a:ln>
        </p:spPr>
      </p:sp>
      <p:sp>
        <p:nvSpPr>
          <p:cNvPr id="15" name="平台文件适配分别处理 Path 与 URI，核心模型不依赖平">
            <a:extLst xmlns:a="http://schemas.openxmlformats.org/drawingml/2006/main">
              <a:ext uri="{FF2B5EF4-FFF2-40B4-BE49-F238E27FC236}">
                <a16:creationId xmlns:a16="http://schemas.microsoft.com/office/drawing/2014/main" id="{75C87100-28ED-4CC2-8E3B-ADEC2452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388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平台文件适配分别处理 Path 与 URI，核心模型不依赖平台</a:t>
            </a:r>
          </a:p>
        </p:txBody>
      </p:sp>
    </p:spTree>
    <p:extLst>
      <p:ext uri="{BB962C8B-B14F-4D97-AF65-F5344CB8AC3E}">
        <p14:creationId xmlns:p14="http://schemas.microsoft.com/office/powerpoint/2010/main" val="1624029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已实现结构总表">
            <a:extLst xmlns:a="http://schemas.openxmlformats.org/drawingml/2006/main">
              <a:ext uri="{FF2B5EF4-FFF2-40B4-BE49-F238E27FC236}">
                <a16:creationId xmlns:a16="http://schemas.microsoft.com/office/drawing/2014/main" id="{0C66EF31-1960-49C8-A7F6-24C07097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已实现结构总表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2E3DF8E3-6320-4E5C-86DC-53450B57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6210E-7E44-470F-88C7-AC141378492A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2095500"/>
                <a:gridCol w="2667000"/>
                <a:gridCol w="5353050"/>
              </a:tblGrid>
              <a:tr h="63409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实现层次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项目用途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6340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间隙缓冲区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自行实现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可编辑文本存储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0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顺序表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数组及标准库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前缀回退表与控件集合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340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栈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业务逻辑与标准库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撤销与重做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0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D4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先进先出任务队列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Java 库复用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串行文件任务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340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D5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关联映射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Swing 复用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快捷键与动作绑定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09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D6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一般树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Swing 复用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界面父子层级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207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间隙缓冲区的逻辑与物理位置">
            <a:extLst xmlns:a="http://schemas.openxmlformats.org/drawingml/2006/main">
              <a:ext uri="{FF2B5EF4-FFF2-40B4-BE49-F238E27FC236}">
                <a16:creationId xmlns:a16="http://schemas.microsoft.com/office/drawing/2014/main" id="{0A319954-5D3E-4B32-89CD-82D95D0E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间隙缓冲区的逻辑与物理位置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6CD3E1B3-0682-485D-AADA-EF88AD8E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在 B 后插入 X，间隙留在下一次输入附近">
            <a:extLst xmlns:a="http://schemas.openxmlformats.org/drawingml/2006/main">
              <a:ext uri="{FF2B5EF4-FFF2-40B4-BE49-F238E27FC236}">
                <a16:creationId xmlns:a16="http://schemas.microsoft.com/office/drawing/2014/main" id="{F37AB502-A285-497D-BC41-63D56215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在 B 后插入 X，间隙留在下一次输入附近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FBCC5-AD0C-4E63-B2E1-B3722AB9DD91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1238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733550"/>
                <a:gridCol w="1733550"/>
                <a:gridCol w="1733550"/>
                <a:gridCol w="1733550"/>
                <a:gridCol w="175260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逻辑位置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0867E-54BA-430A-B43B-C7788E8BABBD}"/>
              </a:ext>
            </a:extLst>
          </p:cNvPr>
          <p:cNvGraphicFramePr/>
          <p:nvPr/>
        </p:nvGraphicFramePr>
        <p:xfrm>
          <a:off xmlns:a="http://schemas.openxmlformats.org/drawingml/2006/main" x="609600" y="3676650"/>
          <a:ext xmlns:a="http://schemas.openxmlformats.org/drawingml/2006/main" cx="10972800" cy="1238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085850"/>
                <a:gridCol w="1085850"/>
                <a:gridCol w="1085850"/>
                <a:gridCol w="1085850"/>
                <a:gridCol w="1085850"/>
                <a:gridCol w="1085850"/>
                <a:gridCol w="1085850"/>
                <a:gridCol w="1085850"/>
              </a:tblGrid>
              <a:tr h="6191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物理存储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插入以后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 = capacity − (gapEnd − gapSt">
            <a:extLst xmlns:a="http://schemas.openxmlformats.org/drawingml/2006/main">
              <a:ext uri="{FF2B5EF4-FFF2-40B4-BE49-F238E27FC236}">
                <a16:creationId xmlns:a16="http://schemas.microsoft.com/office/drawing/2014/main" id="{552F13BD-DAD7-4679-AEA9-4C1B0FAF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N = capacity − (gapEnd − gapStart)</a:t>
            </a:r>
          </a:p>
        </p:txBody>
      </p:sp>
      <p:sp>
        <p:nvSpPr>
          <p:cNvPr id="7" name="charAt 按间隙前后分支，保持逻辑字符连续">
            <a:extLst xmlns:a="http://schemas.openxmlformats.org/drawingml/2006/main">
              <a:ext uri="{FF2B5EF4-FFF2-40B4-BE49-F238E27FC236}">
                <a16:creationId xmlns:a16="http://schemas.microsoft.com/office/drawing/2014/main" id="{8B907BF9-6856-4BBE-B7FE-669D9468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charAt 按间隙前后分支，保持逻辑字符连续</a:t>
            </a:r>
          </a:p>
        </p:txBody>
      </p:sp>
    </p:spTree>
    <p:extLst>
      <p:ext uri="{BB962C8B-B14F-4D97-AF65-F5344CB8AC3E}">
        <p14:creationId xmlns:p14="http://schemas.microsoft.com/office/powerpoint/2010/main" val="5499669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间隙移动与扩容">
            <a:extLst xmlns:a="http://schemas.openxmlformats.org/drawingml/2006/main">
              <a:ext uri="{FF2B5EF4-FFF2-40B4-BE49-F238E27FC236}">
                <a16:creationId xmlns:a16="http://schemas.microsoft.com/office/drawing/2014/main" id="{BC01EA30-85D2-46EB-A121-456A17F5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间隙移动与扩容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6D4429B4-13DF-4531-B61F-6D06E899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65907A90-B207-4D38-A4D0-819983CD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不变量：0 ≤ gapStart ≤ gapEnd ≤ ca">
            <a:extLst xmlns:a="http://schemas.openxmlformats.org/drawingml/2006/main">
              <a:ext uri="{FF2B5EF4-FFF2-40B4-BE49-F238E27FC236}">
                <a16:creationId xmlns:a16="http://schemas.microsoft.com/office/drawing/2014/main" id="{7BB597B8-D485-4A71-A5AD-C9E4BD71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764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不变量：0 ≤ gapStart ≤ gapEnd ≤ capacity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B289430A-FD49-4CF7-B9C4-FE0E3A5F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编辑点改变时，用 System.arraycopy 搬移距离">
            <a:extLst xmlns:a="http://schemas.openxmlformats.org/drawingml/2006/main">
              <a:ext uri="{FF2B5EF4-FFF2-40B4-BE49-F238E27FC236}">
                <a16:creationId xmlns:a16="http://schemas.microsoft.com/office/drawing/2014/main" id="{597A6370-1FA8-49D6-9A13-0F292F48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051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编辑点改变时，用 System.arraycopy 搬移距离 d 的内容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5AE299DA-938D-448A-8FE2-7DC5B7AC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间隙不足时容量至少翻倍，并把后缀搬到新数组尾部">
            <a:extLst xmlns:a="http://schemas.openxmlformats.org/drawingml/2006/main">
              <a:ext uri="{FF2B5EF4-FFF2-40B4-BE49-F238E27FC236}">
                <a16:creationId xmlns:a16="http://schemas.microsoft.com/office/drawing/2014/main" id="{DB775DBC-3E31-42CB-9A32-08334435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间隙不足时容量至少翻倍，并把后缀搬到新数组尾部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BBB5131B-02BE-4FE7-B1E6-3A5706A7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核心完整替换需计入删除文本 r：O(d+r+k)，扩容另加 ">
            <a:extLst xmlns:a="http://schemas.openxmlformats.org/drawingml/2006/main">
              <a:ext uri="{FF2B5EF4-FFF2-40B4-BE49-F238E27FC236}">
                <a16:creationId xmlns:a16="http://schemas.microsoft.com/office/drawing/2014/main" id="{B6C87BA9-AFE3-4B80-94C8-B83F0A62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625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核心完整替换需计入删除文本 r：O(d+r+k)，扩容另加 O(N)</a:t>
            </a:r>
          </a:p>
        </p:txBody>
      </p:sp>
    </p:spTree>
    <p:extLst>
      <p:ext uri="{BB962C8B-B14F-4D97-AF65-F5344CB8AC3E}">
        <p14:creationId xmlns:p14="http://schemas.microsoft.com/office/powerpoint/2010/main" val="9203177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顺序表与 KMP 前缀函数">
            <a:extLst xmlns:a="http://schemas.openxmlformats.org/drawingml/2006/main">
              <a:ext uri="{FF2B5EF4-FFF2-40B4-BE49-F238E27FC236}">
                <a16:creationId xmlns:a16="http://schemas.microsoft.com/office/drawing/2014/main" id="{EF1A82C0-E6E5-4433-A1FB-97D267C9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顺序表与 KMP 前缀函数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A223A8C7-1975-428E-AA8C-F46D59A8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172C4-54C3-4B6A-8837-09E47CCB30C0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05050"/>
                <a:gridCol w="1238250"/>
                <a:gridCol w="1238250"/>
                <a:gridCol w="1238250"/>
                <a:gridCol w="1238250"/>
                <a:gridCol w="1238250"/>
                <a:gridCol w="1238250"/>
                <a:gridCol w="12382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下标 i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prefix[i]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4" name="失配时 j = prefix[j − 1]，文本指针继续向前">
            <a:extLst xmlns:a="http://schemas.openxmlformats.org/drawingml/2006/main">
              <a:ext uri="{FF2B5EF4-FFF2-40B4-BE49-F238E27FC236}">
                <a16:creationId xmlns:a16="http://schemas.microsoft.com/office/drawing/2014/main" id="{3556D2E2-C051-4247-BB6B-185B541E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失配时 j = prefix[j − 1]，文本指针继续向前</a:t>
            </a:r>
          </a:p>
        </p:txBody>
      </p:sp>
      <p:sp>
        <p:nvSpPr>
          <p:cNvPr id="5" name="构建 O(M)，单轮匹配 O(N+M)，额外空间 O(M)">
            <a:extLst xmlns:a="http://schemas.openxmlformats.org/drawingml/2006/main">
              <a:ext uri="{FF2B5EF4-FFF2-40B4-BE49-F238E27FC236}">
                <a16:creationId xmlns:a16="http://schemas.microsoft.com/office/drawing/2014/main" id="{0CDABB79-7B65-4C90-A562-B0BDFF0C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构建 O(M)，单轮匹配 O(N+M)，额外空间 O(M)</a:t>
            </a:r>
          </a:p>
        </p:txBody>
      </p:sp>
    </p:spTree>
    <p:extLst>
      <p:ext uri="{BB962C8B-B14F-4D97-AF65-F5344CB8AC3E}">
        <p14:creationId xmlns:p14="http://schemas.microsoft.com/office/powerpoint/2010/main" val="13215131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撤销与重做双栈">
            <a:extLst xmlns:a="http://schemas.openxmlformats.org/drawingml/2006/main">
              <a:ext uri="{FF2B5EF4-FFF2-40B4-BE49-F238E27FC236}">
                <a16:creationId xmlns:a16="http://schemas.microsoft.com/office/drawing/2014/main" id="{ABF6930F-575A-4752-BC74-BE323BE0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撤销与重做双栈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69A18A14-946E-42EA-880C-B8EF6F56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36059-0F2E-43FA-BC7B-2E215ED11441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3390900"/>
                <a:gridCol w="3390900"/>
              </a:tblGrid>
              <a:tr h="600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undo 栈顶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redo 栈顶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插入 X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Edit X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再插入 Y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Edit Y，Edit X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撤销 Y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Edit X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Edit Y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重做 Y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Edit Y，Edit X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撤销后输入 Z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Edit Z，Edit X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清空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命令 = 起点 + 删除文本 + 插入文本 + 编辑前选区 ">
            <a:extLst xmlns:a="http://schemas.openxmlformats.org/drawingml/2006/main">
              <a:ext uri="{FF2B5EF4-FFF2-40B4-BE49-F238E27FC236}">
                <a16:creationId xmlns:a16="http://schemas.microsoft.com/office/drawing/2014/main" id="{B2FF0BDF-DC0A-4A03-B84A-50DDE4A3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命令 = 起点 + 删除文本 + 插入文本 + 编辑前选区 + 完成光标</a:t>
            </a:r>
          </a:p>
        </p:txBody>
      </p:sp>
      <p:sp>
        <p:nvSpPr>
          <p:cNvPr id="5" name="最多保留 100 条；历史内存取决于各条文本大小">
            <a:extLst xmlns:a="http://schemas.openxmlformats.org/drawingml/2006/main">
              <a:ext uri="{FF2B5EF4-FFF2-40B4-BE49-F238E27FC236}">
                <a16:creationId xmlns:a16="http://schemas.microsoft.com/office/drawing/2014/main" id="{C6AA2E14-745A-4409-97FD-90E84D4F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最多保留 100 条；历史内存取决于各条文本大小</a:t>
            </a:r>
          </a:p>
        </p:txBody>
      </p:sp>
    </p:spTree>
    <p:extLst>
      <p:ext uri="{BB962C8B-B14F-4D97-AF65-F5344CB8AC3E}">
        <p14:creationId xmlns:p14="http://schemas.microsoft.com/office/powerpoint/2010/main" val="19393193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后台任务队列与主线程">
            <a:extLst xmlns:a="http://schemas.openxmlformats.org/drawingml/2006/main">
              <a:ext uri="{FF2B5EF4-FFF2-40B4-BE49-F238E27FC236}">
                <a16:creationId xmlns:a16="http://schemas.microsoft.com/office/drawing/2014/main" id="{0353F922-E85E-44C7-9825-D3D5E71E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后台任务队列与主线程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651E6B13-B8CA-4C95-8E7D-E4E95B85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562D8-4C11-405F-B164-E951162A724A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333875"/>
                <a:gridCol w="4448175"/>
              </a:tblGrid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执行位置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生成快照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主线程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读取文本、选区、URI 与保存基准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文件任务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单线程执行器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按提交顺序写草稿、保存和清理恢复副本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结果回调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主线程 Handler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更新已保存快照、忙状态和提示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队列由 Java 库间接提供，项目没有手写并发队列">
            <a:extLst xmlns:a="http://schemas.openxmlformats.org/drawingml/2006/main">
              <a:ext uri="{FF2B5EF4-FFF2-40B4-BE49-F238E27FC236}">
                <a16:creationId xmlns:a16="http://schemas.microsoft.com/office/drawing/2014/main" id="{A632EA2D-0406-4134-BE47-100C9229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队列由 Java 库间接提供，项目没有手写并发队列</a:t>
            </a:r>
          </a:p>
        </p:txBody>
      </p:sp>
      <p:sp>
        <p:nvSpPr>
          <p:cNvPr id="5" name="700 ms 空闲后安排草稿，不等于零丢失保证">
            <a:extLst xmlns:a="http://schemas.openxmlformats.org/drawingml/2006/main">
              <a:ext uri="{FF2B5EF4-FFF2-40B4-BE49-F238E27FC236}">
                <a16:creationId xmlns:a16="http://schemas.microsoft.com/office/drawing/2014/main" id="{6EFA4A7E-935E-4C7E-9CC6-66C41809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700 ms 空闲后安排草稿，不等于零丢失保证</a:t>
            </a:r>
          </a:p>
        </p:txBody>
      </p:sp>
    </p:spTree>
    <p:extLst>
      <p:ext uri="{BB962C8B-B14F-4D97-AF65-F5344CB8AC3E}">
        <p14:creationId xmlns:p14="http://schemas.microsoft.com/office/powerpoint/2010/main" val="7576361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快捷键的两级映射">
            <a:extLst xmlns:a="http://schemas.openxmlformats.org/drawingml/2006/main">
              <a:ext uri="{FF2B5EF4-FFF2-40B4-BE49-F238E27FC236}">
                <a16:creationId xmlns:a16="http://schemas.microsoft.com/office/drawing/2014/main" id="{58753525-604A-4853-85E8-96C16264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快捷键的两级映射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AE9C41F7-4CBA-4F9D-9C68-E87892BB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1427D-0F24-4CBF-9DA5-25630B89EDF3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333875"/>
                <a:gridCol w="4448175"/>
              </a:tblGrid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InputMap 的键值关系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ActionMap 的键值关系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Ctrl+S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KeyStroke → 保存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 → 同一 saveAction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Ctrl+Z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KeyStroke → 撤销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撤销 → undoAction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Ctrl+F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KeyStroke → 查找…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查找… → showSearch(false)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菜单、按钮与快捷键共享 Action">
            <a:extLst xmlns:a="http://schemas.openxmlformats.org/drawingml/2006/main">
              <a:ext uri="{FF2B5EF4-FFF2-40B4-BE49-F238E27FC236}">
                <a16:creationId xmlns:a16="http://schemas.microsoft.com/office/drawing/2014/main" id="{3AA0301A-1405-47C5-BE38-E89A24DB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菜单、按钮与快捷键共享 Action</a:t>
            </a:r>
          </a:p>
        </p:txBody>
      </p:sp>
      <p:sp>
        <p:nvSpPr>
          <p:cNvPr id="5" name="只统计关联映射一种，库内部存储不计为自研哈希表">
            <a:extLst xmlns:a="http://schemas.openxmlformats.org/drawingml/2006/main">
              <a:ext uri="{FF2B5EF4-FFF2-40B4-BE49-F238E27FC236}">
                <a16:creationId xmlns:a16="http://schemas.microsoft.com/office/drawing/2014/main" id="{B2FFDB57-64DD-4270-930A-BCCD3AD1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只统计关联映射一种，库内部存储不计为自研哈希表</a:t>
            </a:r>
          </a:p>
        </p:txBody>
      </p:sp>
    </p:spTree>
    <p:extLst>
      <p:ext uri="{BB962C8B-B14F-4D97-AF65-F5344CB8AC3E}">
        <p14:creationId xmlns:p14="http://schemas.microsoft.com/office/powerpoint/2010/main" val="5306049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一般树在界面中的真实用途">
            <a:extLst xmlns:a="http://schemas.openxmlformats.org/drawingml/2006/main">
              <a:ext uri="{FF2B5EF4-FFF2-40B4-BE49-F238E27FC236}">
                <a16:creationId xmlns:a16="http://schemas.microsoft.com/office/drawing/2014/main" id="{CF62E0AA-DDD5-4BE0-AC75-566F0FFB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一般树在界面中的真实用途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A334F254-02EC-4DA1-8937-3C3332A3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EditorWindow">
            <a:extLst xmlns:a="http://schemas.openxmlformats.org/drawingml/2006/main">
              <a:ext uri="{FF2B5EF4-FFF2-40B4-BE49-F238E27FC236}">
                <a16:creationId xmlns:a16="http://schemas.microsoft.com/office/drawing/2014/main" id="{74ADDBBC-FC27-42D0-B8EA-8AB458D1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476375"/>
            <a:ext cx="3009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EditorWindow</a:t>
            </a:r>
          </a:p>
        </p:txBody>
      </p:sp>
      <p:sp>
        <p:nvSpPr>
          <p:cNvPr id="4" name="shell  根容器">
            <a:extLst xmlns:a="http://schemas.openxmlformats.org/drawingml/2006/main">
              <a:ext uri="{FF2B5EF4-FFF2-40B4-BE49-F238E27FC236}">
                <a16:creationId xmlns:a16="http://schemas.microsoft.com/office/drawing/2014/main" id="{3890E39E-3ED6-41D4-B9DF-D95334FB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95550"/>
            <a:ext cx="3009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shell  根容器</a:t>
            </a:r>
          </a:p>
        </p:txBody>
      </p:sp>
      <p:sp>
        <p:nvSpPr>
          <p:cNvPr id="5" name="top  标题与工具栏">
            <a:extLst xmlns:a="http://schemas.openxmlformats.org/drawingml/2006/main">
              <a:ext uri="{FF2B5EF4-FFF2-40B4-BE49-F238E27FC236}">
                <a16:creationId xmlns:a16="http://schemas.microsoft.com/office/drawing/2014/main" id="{63E483D4-C704-47B0-B12F-F1C16280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35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top  标题与工具栏</a:t>
            </a:r>
          </a:p>
        </p:txBody>
      </p:sp>
      <p:sp>
        <p:nvSpPr>
          <p:cNvPr id="6" name="document  文档区域">
            <a:extLst xmlns:a="http://schemas.openxmlformats.org/drawingml/2006/main">
              <a:ext uri="{FF2B5EF4-FFF2-40B4-BE49-F238E27FC236}">
                <a16:creationId xmlns:a16="http://schemas.microsoft.com/office/drawing/2014/main" id="{36F28E3D-8710-40DA-9FA0-94B925AF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76650"/>
            <a:ext cx="335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document  文档区域</a:t>
            </a:r>
          </a:p>
        </p:txBody>
      </p:sp>
      <p:sp>
        <p:nvSpPr>
          <p:cNvPr id="7" name="footer  状态与缩放">
            <a:extLst xmlns:a="http://schemas.openxmlformats.org/drawingml/2006/main">
              <a:ext uri="{FF2B5EF4-FFF2-40B4-BE49-F238E27FC236}">
                <a16:creationId xmlns:a16="http://schemas.microsoft.com/office/drawing/2014/main" id="{3C7271AD-E559-412F-BF1A-974532DA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6650"/>
            <a:ext cx="335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footer  状态与缩放</a:t>
            </a:r>
          </a:p>
        </p:txBody>
      </p:sp>
      <p:sp>
        <p:nvSpPr>
          <p:cNvPr id="8" name="documentTop&#10;文件标题与查找区">
            <a:extLst xmlns:a="http://schemas.openxmlformats.org/drawingml/2006/main">
              <a:ext uri="{FF2B5EF4-FFF2-40B4-BE49-F238E27FC236}">
                <a16:creationId xmlns:a16="http://schemas.microsoft.com/office/drawing/2014/main" id="{22FCB1DA-7EDF-441C-BF22-BDEFD857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33950"/>
            <a:ext cx="2952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documentTop</a:t>
            </a:r>
          </a:p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文件标题与查找区</a:t>
            </a:r>
          </a:p>
        </p:txBody>
      </p:sp>
      <p:sp>
        <p:nvSpPr>
          <p:cNvPr id="9" name="scroll&#10;JTextArea">
            <a:extLst xmlns:a="http://schemas.openxmlformats.org/drawingml/2006/main">
              <a:ext uri="{FF2B5EF4-FFF2-40B4-BE49-F238E27FC236}">
                <a16:creationId xmlns:a16="http://schemas.microsoft.com/office/drawing/2014/main" id="{BB025FB3-5F3A-410D-BF18-55ED6655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33950"/>
            <a:ext cx="2952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scroll</a:t>
            </a:r>
          </a:p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JTextArea</a:t>
            </a:r>
          </a:p>
        </p:txBody>
      </p:sp>
      <p:sp>
        <p:nvSpPr>
          <p:cNvPr id="10" name="父子关系来自 Container.add；测试递归 getC">
            <a:extLst xmlns:a="http://schemas.openxmlformats.org/drawingml/2006/main">
              <a:ext uri="{FF2B5EF4-FFF2-40B4-BE49-F238E27FC236}">
                <a16:creationId xmlns:a16="http://schemas.microsoft.com/office/drawing/2014/main" id="{9BCCE8C7-DED7-4CA6-A1E8-949C556F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父子关系来自 Container.add；测试递归 getComponents 访问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7B155-EB82-4408-BD6F-FC346BCC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DD4B6-3426-4760-A50C-3A48A7FF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DB754-A2A7-4A50-836A-D55487F4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48050"/>
            <a:ext cx="762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15707-5F92-4CDB-A201-69F3EA3C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48050"/>
            <a:ext cx="9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7AC94-B062-448B-9505-36DCF3D6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9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AAE61-A863-4155-AB35-AD1CE154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48050"/>
            <a:ext cx="9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841F8-787C-4C86-B8E8-4423753E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9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C5A22-E96E-409E-8518-08B38D81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91050"/>
            <a:ext cx="350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8852F-F9E8-4FA8-883C-D68F50AF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910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48D41-518B-4C09-8283-3ED14E16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910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606062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Unicode 与替换边界">
            <a:extLst xmlns:a="http://schemas.openxmlformats.org/drawingml/2006/main">
              <a:ext uri="{FF2B5EF4-FFF2-40B4-BE49-F238E27FC236}">
                <a16:creationId xmlns:a16="http://schemas.microsoft.com/office/drawing/2014/main" id="{7CBB95FF-9582-4B84-920F-792F502F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Unicode 与替换边界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267E5695-0512-4247-8965-4F11E3F9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40265-66F3-4F91-94B6-A9A10836ADDB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924800"/>
              </a:tblGrid>
              <a:tr h="8877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例子与规则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8877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UTF-16 单元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A😀中 长度 4，表情占两个单元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77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Unicode 码点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同一文本计数 3，不承诺用户感知字素数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8877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有效选区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😀 的两个代理项之间禁止作为编辑边界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77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统一编码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严格 UTF-8，非法字节拒绝，读取首 BOM 并规范换行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4513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两端安全保存">
            <a:extLst xmlns:a="http://schemas.openxmlformats.org/drawingml/2006/main">
              <a:ext uri="{FF2B5EF4-FFF2-40B4-BE49-F238E27FC236}">
                <a16:creationId xmlns:a16="http://schemas.microsoft.com/office/drawing/2014/main" id="{071DC85D-F64A-409D-A9B1-D5554A3C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两端安全保存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3EA14FBB-8ED8-49FE-9747-3CFE1598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Windows 本地文件">
            <a:extLst xmlns:a="http://schemas.openxmlformats.org/drawingml/2006/main">
              <a:ext uri="{FF2B5EF4-FFF2-40B4-BE49-F238E27FC236}">
                <a16:creationId xmlns:a16="http://schemas.microsoft.com/office/drawing/2014/main" id="{2181D024-CBB1-45F4-9EBB-DFC19C39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Windows 本地文件</a:t>
            </a:r>
          </a:p>
        </p:txBody>
      </p:sp>
      <p:sp>
        <p:nvSpPr>
          <p:cNvPr id="4" name="Android SAF 文档">
            <a:extLst xmlns:a="http://schemas.openxmlformats.org/drawingml/2006/main">
              <a:ext uri="{FF2B5EF4-FFF2-40B4-BE49-F238E27FC236}">
                <a16:creationId xmlns:a16="http://schemas.microsoft.com/office/drawing/2014/main" id="{2B7CB0BC-B77E-4186-9362-5F50D3CA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668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Android SAF 文档</a:t>
            </a:r>
          </a:p>
        </p:txBody>
      </p:sp>
      <p:sp>
        <p:nvSpPr>
          <p:cNvPr id="5" name="文本快照编码">
            <a:extLst xmlns:a="http://schemas.openxmlformats.org/drawingml/2006/main">
              <a:ext uri="{FF2B5EF4-FFF2-40B4-BE49-F238E27FC236}">
                <a16:creationId xmlns:a16="http://schemas.microsoft.com/office/drawing/2014/main" id="{DBF345C6-FD99-44D8-BAD6-5195C82A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文本快照编码</a:t>
            </a:r>
          </a:p>
        </p:txBody>
      </p:sp>
      <p:sp>
        <p:nvSpPr>
          <p:cNvPr id="6" name="同目录 pending 写入并 force">
            <a:extLst xmlns:a="http://schemas.openxmlformats.org/drawingml/2006/main">
              <a:ext uri="{FF2B5EF4-FFF2-40B4-BE49-F238E27FC236}">
                <a16:creationId xmlns:a16="http://schemas.microsoft.com/office/drawing/2014/main" id="{ACFCB44C-B901-4BB5-8658-D02E7FB0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同目录 pending 写入并 force</a:t>
            </a:r>
          </a:p>
        </p:txBody>
      </p:sp>
      <p:sp>
        <p:nvSpPr>
          <p:cNvPr id="7" name="尝试原子移动">
            <a:extLst xmlns:a="http://schemas.openxmlformats.org/drawingml/2006/main">
              <a:ext uri="{FF2B5EF4-FFF2-40B4-BE49-F238E27FC236}">
                <a16:creationId xmlns:a16="http://schemas.microsoft.com/office/drawing/2014/main" id="{CD2AB255-F70F-4D55-A2D4-63E91AA7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尝试原子移动</a:t>
            </a:r>
          </a:p>
        </p:txBody>
      </p:sp>
      <p:sp>
        <p:nvSpPr>
          <p:cNvPr id="8" name="不支持时备份再替换">
            <a:extLst xmlns:a="http://schemas.openxmlformats.org/drawingml/2006/main">
              <a:ext uri="{FF2B5EF4-FFF2-40B4-BE49-F238E27FC236}">
                <a16:creationId xmlns:a16="http://schemas.microsoft.com/office/drawing/2014/main" id="{585496DE-1EB4-4DD1-8B50-47CD6F83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不支持时备份再替换</a:t>
            </a:r>
          </a:p>
        </p:txBody>
      </p:sp>
      <p:sp>
        <p:nvSpPr>
          <p:cNvPr id="9" name="成功后更新保存基准">
            <a:extLst xmlns:a="http://schemas.openxmlformats.org/drawingml/2006/main">
              <a:ext uri="{FF2B5EF4-FFF2-40B4-BE49-F238E27FC236}">
                <a16:creationId xmlns:a16="http://schemas.microsoft.com/office/drawing/2014/main" id="{816AE9F5-8BC1-4430-9904-52D21121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成功后更新保存基准</a:t>
            </a:r>
          </a:p>
        </p:txBody>
      </p:sp>
      <p:sp>
        <p:nvSpPr>
          <p:cNvPr id="10" name="主线程生成 Draft">
            <a:extLst xmlns:a="http://schemas.openxmlformats.org/drawingml/2006/main">
              <a:ext uri="{FF2B5EF4-FFF2-40B4-BE49-F238E27FC236}">
                <a16:creationId xmlns:a16="http://schemas.microsoft.com/office/drawing/2014/main" id="{810DDAFF-8BCE-4BDE-A2EF-CE2A43DA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主线程生成 Draft</a:t>
            </a:r>
          </a:p>
        </p:txBody>
      </p:sp>
      <p:sp>
        <p:nvSpPr>
          <p:cNvPr id="11" name="私有 recovery.bin 可靠落盘">
            <a:extLst xmlns:a="http://schemas.openxmlformats.org/drawingml/2006/main">
              <a:ext uri="{FF2B5EF4-FFF2-40B4-BE49-F238E27FC236}">
                <a16:creationId xmlns:a16="http://schemas.microsoft.com/office/drawing/2014/main" id="{31618540-8CE6-40B8-B725-1BF22662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1940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私有 recovery.bin 可靠落盘</a:t>
            </a:r>
          </a:p>
        </p:txBody>
      </p:sp>
      <p:sp>
        <p:nvSpPr>
          <p:cNvPr id="12" name="写入目标 URI">
            <a:extLst xmlns:a="http://schemas.openxmlformats.org/drawingml/2006/main">
              <a:ext uri="{FF2B5EF4-FFF2-40B4-BE49-F238E27FC236}">
                <a16:creationId xmlns:a16="http://schemas.microsoft.com/office/drawing/2014/main" id="{D6354546-294C-4624-827C-1FB3C3FE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写入目标 URI</a:t>
            </a:r>
          </a:p>
        </p:txBody>
      </p:sp>
      <p:sp>
        <p:nvSpPr>
          <p:cNvPr id="13" name="成功后标记快照并清理恢复副本">
            <a:extLst xmlns:a="http://schemas.openxmlformats.org/drawingml/2006/main">
              <a:ext uri="{FF2B5EF4-FFF2-40B4-BE49-F238E27FC236}">
                <a16:creationId xmlns:a16="http://schemas.microsoft.com/office/drawing/2014/main" id="{93277072-CB3F-428C-B29F-1CE0F493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成功后标记快照并清理恢复副本</a:t>
            </a:r>
          </a:p>
        </p:txBody>
      </p:sp>
      <p:sp>
        <p:nvSpPr>
          <p:cNvPr id="14" name="失败保留内容与恢复副本">
            <a:extLst xmlns:a="http://schemas.openxmlformats.org/drawingml/2006/main">
              <a:ext uri="{FF2B5EF4-FFF2-40B4-BE49-F238E27FC236}">
                <a16:creationId xmlns:a16="http://schemas.microsoft.com/office/drawing/2014/main" id="{C832CD0B-AFF2-4788-B380-C1363120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9110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失败保留内容与恢复副本</a:t>
            </a:r>
          </a:p>
        </p:txBody>
      </p:sp>
      <p:sp>
        <p:nvSpPr>
          <p:cNvPr id="15" name="SAF 无原子覆盖保证，提供者失败时目标文件可能部分写入">
            <a:extLst xmlns:a="http://schemas.openxmlformats.org/drawingml/2006/main">
              <a:ext uri="{FF2B5EF4-FFF2-40B4-BE49-F238E27FC236}">
                <a16:creationId xmlns:a16="http://schemas.microsoft.com/office/drawing/2014/main" id="{5638A04F-5406-43B3-8A3C-ABFFDB39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SAF 无原子覆盖保证，提供者失败时目标文件可能部分写入</a:t>
            </a:r>
          </a:p>
        </p:txBody>
      </p:sp>
    </p:spTree>
    <p:extLst>
      <p:ext uri="{BB962C8B-B14F-4D97-AF65-F5344CB8AC3E}">
        <p14:creationId xmlns:p14="http://schemas.microsoft.com/office/powerpoint/2010/main" val="14782365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真实界面与显示适配">
            <a:extLst xmlns:a="http://schemas.openxmlformats.org/drawingml/2006/main">
              <a:ext uri="{FF2B5EF4-FFF2-40B4-BE49-F238E27FC236}">
                <a16:creationId xmlns:a16="http://schemas.microsoft.com/office/drawing/2014/main" id="{35761DDD-5CEF-4724-A5DF-A66BA1FE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真实界面与显示适配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422BCB55-5283-4901-90D1-957FF8CD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244B2-03E1-4F31-AF5D-151468AB14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de7921abe4e72"/>
          <a:stretch xmlns:a="http://schemas.openxmlformats.org/drawingml/2006/main"/>
        </p:blipFill>
        <p:spPr>
          <a:xfrm xmlns:a="http://schemas.openxmlformats.org/drawingml/2006/main">
            <a:off x="1419361" y="1657350"/>
            <a:ext cx="5809978" cy="42100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485F0-7E1A-42C8-AD9E-60C6CFD27C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8aa3cc80042ad"/>
          <a:stretch xmlns:a="http://schemas.openxmlformats.org/drawingml/2006/main"/>
        </p:blipFill>
        <p:spPr>
          <a:xfrm xmlns:a="http://schemas.openxmlformats.org/drawingml/2006/main">
            <a:off x="8816816" y="1400175"/>
            <a:ext cx="2083118" cy="4629150"/>
          </a:xfrm>
          <a:prstGeom xmlns:a="http://schemas.openxmlformats.org/drawingml/2006/main" prst="rect">
            <a:avLst/>
          </a:prstGeom>
        </p:spPr>
      </p:pic>
      <p:sp>
        <p:nvSpPr>
          <p:cNvPr id="5" name="Swing 根组件渲染">
            <a:extLst xmlns:a="http://schemas.openxmlformats.org/drawingml/2006/main">
              <a:ext uri="{FF2B5EF4-FFF2-40B4-BE49-F238E27FC236}">
                <a16:creationId xmlns:a16="http://schemas.microsoft.com/office/drawing/2014/main" id="{8D88BAE9-99F3-4611-B9B1-9F6AE593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Swing 根组件渲染</a:t>
            </a:r>
          </a:p>
        </p:txBody>
      </p:sp>
      <p:sp>
        <p:nvSpPr>
          <p:cNvPr id="6" name="Android 模拟器实拍">
            <a:extLst xmlns:a="http://schemas.openxmlformats.org/drawingml/2006/main">
              <a:ext uri="{FF2B5EF4-FFF2-40B4-BE49-F238E27FC236}">
                <a16:creationId xmlns:a16="http://schemas.microsoft.com/office/drawing/2014/main" id="{1DC2B8BE-9025-4B77-ABBD-29021691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60674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Android 模拟器实拍</a:t>
            </a:r>
          </a:p>
        </p:txBody>
      </p:sp>
    </p:spTree>
    <p:extLst>
      <p:ext uri="{BB962C8B-B14F-4D97-AF65-F5344CB8AC3E}">
        <p14:creationId xmlns:p14="http://schemas.microsoft.com/office/powerpoint/2010/main" val="6294672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确性验证与时间范围">
            <a:extLst xmlns:a="http://schemas.openxmlformats.org/drawingml/2006/main">
              <a:ext uri="{FF2B5EF4-FFF2-40B4-BE49-F238E27FC236}">
                <a16:creationId xmlns:a16="http://schemas.microsoft.com/office/drawing/2014/main" id="{512C2F96-882B-4353-8ED7-FD33D2EB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正确性验证与时间范围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9E03490A-BF12-4E43-B521-5C37D747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F5D61-F143-41C1-8267-5DBE999D8816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333875"/>
                <a:gridCol w="4448175"/>
              </a:tblGrid>
              <a:tr h="7397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断言数量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证据范围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739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CoreTest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48,448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本轮重跑，12,000步随机编辑及6,000组KMP对照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9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DesktopTest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本轮重跑，适配与安全文件失败恢复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739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AdapterTest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5,576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本轮重跑，输入差异、Unicode、草稿序列化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9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Android 设备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 + 5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历史模拟器回归，主流程与进程恢复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739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 GUI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历史记录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本轮未重跑，不与本轮断言数合并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3447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核心性能实验">
            <a:extLst xmlns:a="http://schemas.openxmlformats.org/drawingml/2006/main">
              <a:ext uri="{FF2B5EF4-FFF2-40B4-BE49-F238E27FC236}">
                <a16:creationId xmlns:a16="http://schemas.microsoft.com/office/drawing/2014/main" id="{EEF0937D-AABD-4A43-BE62-872F0C2A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核心性能实验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C071B2A9-065B-418E-9295-84C41CDD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2843C-7944-4592-8742-07A184A615F1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952750"/>
                <a:gridCol w="2952750"/>
                <a:gridCol w="2876550"/>
              </a:tblGrid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UTF-16 单元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末尾插入200次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随机替换100次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KMP 无匹配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0.115500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0.055250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0.110600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10,000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0.068200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0.039400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0.241900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100,000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0.138700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0.167800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0.239900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单位 ms，中位数；每项预热 10 次，测量 30 次">
            <a:extLst xmlns:a="http://schemas.openxmlformats.org/drawingml/2006/main">
              <a:ext uri="{FF2B5EF4-FFF2-40B4-BE49-F238E27FC236}">
                <a16:creationId xmlns:a16="http://schemas.microsoft.com/office/drawing/2014/main" id="{65699834-3205-4554-9F68-246BB02D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单位 ms，中位数；每项预热 10 次，测量 30 次</a:t>
            </a:r>
          </a:p>
        </p:txBody>
      </p:sp>
      <p:sp>
        <p:nvSpPr>
          <p:cNvPr id="5" name="历史 CSV，Java 21.0.9 / Windows 1">
            <a:extLst xmlns:a="http://schemas.openxmlformats.org/drawingml/2006/main">
              <a:ext uri="{FF2B5EF4-FFF2-40B4-BE49-F238E27FC236}">
                <a16:creationId xmlns:a16="http://schemas.microsoft.com/office/drawing/2014/main" id="{C5614AEE-D3F6-4656-8389-5AA68A6A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历史 CSV，Java 21.0.9 / Windows 11；本轮未重测性能</a:t>
            </a:r>
          </a:p>
        </p:txBody>
      </p:sp>
    </p:spTree>
    <p:extLst>
      <p:ext uri="{BB962C8B-B14F-4D97-AF65-F5344CB8AC3E}">
        <p14:creationId xmlns:p14="http://schemas.microsoft.com/office/powerpoint/2010/main" val="9663275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桌面分段时延与适用范围">
            <a:extLst xmlns:a="http://schemas.openxmlformats.org/drawingml/2006/main">
              <a:ext uri="{FF2B5EF4-FFF2-40B4-BE49-F238E27FC236}">
                <a16:creationId xmlns:a16="http://schemas.microsoft.com/office/drawing/2014/main" id="{D4F88614-E18A-464E-A5D6-D715D4D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桌面分段时延与适用范围</a:t>
            </a: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2B332277-4E38-4A0D-A2A0-483C0E5E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31D1B-132E-41A9-96C7-8CBF2B585978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333875"/>
                <a:gridCol w="4448175"/>
              </a:tblGrid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编辑与绘制 中位/最大 ms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读取解码 中位/最大 ms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4.253650 / 6.280600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1.922650 / 2.452100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10,000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5.341050 / 7.442700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9.618100 / 18.917500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100,000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4.751950 / 35.932700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9.578400 / 11.191400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采用仓库根级 benchmark-results.csv 的">
            <a:extLst xmlns:a="http://schemas.openxmlformats.org/drawingml/2006/main">
              <a:ext uri="{FF2B5EF4-FFF2-40B4-BE49-F238E27FC236}">
                <a16:creationId xmlns:a16="http://schemas.microsoft.com/office/drawing/2014/main" id="{A2392994-29EF-42DF-9823-A6F91E0F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采用仓库根级 benchmark-results.csv 的同一历史批次</a:t>
            </a:r>
          </a:p>
        </p:txBody>
      </p:sp>
      <p:sp>
        <p:nvSpPr>
          <p:cNvPr id="5" name="不含 OS 按键、输入法、选择器和完整打开布局">
            <a:extLst xmlns:a="http://schemas.openxmlformats.org/drawingml/2006/main">
              <a:ext uri="{FF2B5EF4-FFF2-40B4-BE49-F238E27FC236}">
                <a16:creationId xmlns:a16="http://schemas.microsoft.com/office/drawing/2014/main" id="{8085D4D3-E0FD-4558-BC67-EF0CBE55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不含 OS 按键、输入法、选择器和完整打开布局</a:t>
            </a:r>
          </a:p>
        </p:txBody>
      </p:sp>
    </p:spTree>
    <p:extLst>
      <p:ext uri="{BB962C8B-B14F-4D97-AF65-F5344CB8AC3E}">
        <p14:creationId xmlns:p14="http://schemas.microsoft.com/office/powerpoint/2010/main" val="9018506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构建与现场演示">
            <a:extLst xmlns:a="http://schemas.openxmlformats.org/drawingml/2006/main">
              <a:ext uri="{FF2B5EF4-FFF2-40B4-BE49-F238E27FC236}">
                <a16:creationId xmlns:a16="http://schemas.microsoft.com/office/drawing/2014/main" id="{8A1E5265-36A3-4F2B-9072-F06ED6A2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构建与现场演示</a:t>
            </a:r>
          </a:p>
        </p:txBody>
      </p:sp>
      <p:sp>
        <p:nvSpPr>
          <p:cNvPr id="2" name="19">
            <a:extLst xmlns:a="http://schemas.openxmlformats.org/drawingml/2006/main">
              <a:ext uri="{FF2B5EF4-FFF2-40B4-BE49-F238E27FC236}">
                <a16:creationId xmlns:a16="http://schemas.microsoft.com/office/drawing/2014/main" id="{1E38EA2B-1D19-4FE7-AE52-30391CF9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E19EA-2ED4-408B-9154-7ADDBBF721E6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9248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演示内容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打开附带的答辩演示.txt，输入中文与表情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跨行替换，KMP查找下一处，撤销与重做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保存重开，修改后取消离开，展示失败提示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展示两端使用同一核心源码和测试结果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4" name="Windows EXE 自带 Java 21；JAR 需要桌">
            <a:extLst xmlns:a="http://schemas.openxmlformats.org/drawingml/2006/main">
              <a:ext uri="{FF2B5EF4-FFF2-40B4-BE49-F238E27FC236}">
                <a16:creationId xmlns:a16="http://schemas.microsoft.com/office/drawing/2014/main" id="{3B2757B6-FE19-4CD2-A71C-9A1EE38E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Windows EXE 自带 Java 21；JAR 需要桌面 Java</a:t>
            </a:r>
          </a:p>
        </p:txBody>
      </p:sp>
      <p:sp>
        <p:nvSpPr>
          <p:cNvPr id="5" name="Android APK 需 Android 8.0+；发布包">
            <a:extLst xmlns:a="http://schemas.openxmlformats.org/drawingml/2006/main">
              <a:ext uri="{FF2B5EF4-FFF2-40B4-BE49-F238E27FC236}">
                <a16:creationId xmlns:a16="http://schemas.microsoft.com/office/drawing/2014/main" id="{4F4C56A4-21AD-43B0-B8BA-7815B46F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Android APK 需 Android 8.0+；发布包是演示调试签名</a:t>
            </a:r>
          </a:p>
        </p:txBody>
      </p:sp>
    </p:spTree>
    <p:extLst>
      <p:ext uri="{BB962C8B-B14F-4D97-AF65-F5344CB8AC3E}">
        <p14:creationId xmlns:p14="http://schemas.microsoft.com/office/powerpoint/2010/main" val="1655913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扩展设计与数量差距">
            <a:extLst xmlns:a="http://schemas.openxmlformats.org/drawingml/2006/main">
              <a:ext uri="{FF2B5EF4-FFF2-40B4-BE49-F238E27FC236}">
                <a16:creationId xmlns:a16="http://schemas.microsoft.com/office/drawing/2014/main" id="{10A8DEA0-E1B8-4A1C-843C-A70E33E2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扩展设计与数量差距</a:t>
            </a:r>
          </a:p>
        </p:txBody>
      </p:sp>
      <p:sp>
        <p:nvSpPr>
          <p:cNvPr id="2" name="20">
            <a:extLst xmlns:a="http://schemas.openxmlformats.org/drawingml/2006/main">
              <a:ext uri="{FF2B5EF4-FFF2-40B4-BE49-F238E27FC236}">
                <a16:creationId xmlns:a16="http://schemas.microsoft.com/office/drawing/2014/main" id="{FE965884-2B23-4AF6-BA5D-5E1CF579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D8556-2A94-4B8F-ADD4-BDDF86A13BAB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3714750"/>
                <a:gridCol w="4953000"/>
                <a:gridCol w="1447800"/>
              </a:tblGrid>
              <a:tr h="5619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设计项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预期用途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E1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分段表 Piece Table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大粘贴和大文本编辑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未实现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E2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带子树长度的 AVL 树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按字符偏移定位片段和行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未实现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E3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Trie 前缀树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本地词典前缀补全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未实现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E4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有向图邻接表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未来多文档的引用关系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未实现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E5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二叉堆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未来按到期时间调度多个后台任务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未实现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E6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双向链表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未来多文档最近访问顺序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未实现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E7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位图 BitSet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未来增量分析的脏行标记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未实现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1331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多文档引用图扩展设计">
            <a:extLst xmlns:a="http://schemas.openxmlformats.org/drawingml/2006/main">
              <a:ext uri="{FF2B5EF4-FFF2-40B4-BE49-F238E27FC236}">
                <a16:creationId xmlns:a16="http://schemas.microsoft.com/office/drawing/2014/main" id="{DA340039-2A70-44C9-90EB-07FD7BF8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多文档引用图扩展设计</a:t>
            </a:r>
          </a:p>
        </p:txBody>
      </p:sp>
      <p:sp>
        <p:nvSpPr>
          <p:cNvPr id="2" name="21">
            <a:extLst xmlns:a="http://schemas.openxmlformats.org/drawingml/2006/main">
              <a:ext uri="{FF2B5EF4-FFF2-40B4-BE49-F238E27FC236}">
                <a16:creationId xmlns:a16="http://schemas.microsoft.com/office/drawing/2014/main" id="{642B1A60-65D0-4429-8D38-E6150025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" name="扩展设计　尚未实现">
            <a:extLst xmlns:a="http://schemas.openxmlformats.org/drawingml/2006/main">
              <a:ext uri="{FF2B5EF4-FFF2-40B4-BE49-F238E27FC236}">
                <a16:creationId xmlns:a16="http://schemas.microsoft.com/office/drawing/2014/main" id="{15FBD58C-A4EF-4167-8C44-E4E47509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94602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4602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4602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4602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4602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4602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4602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4602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4602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460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460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46027"/>
                </a:solidFill>
                <a:latin typeface="Microsoft YaHei"/>
                <a:ea typeface="Microsoft YaHei"/>
                <a:cs typeface="Microsoft YaHei"/>
              </a:rPr>
              <a:t>扩展设计　尚未实现</a:t>
            </a:r>
          </a:p>
        </p:txBody>
      </p:sp>
      <p:sp>
        <p:nvSpPr>
          <p:cNvPr id="4" name="文档 A">
            <a:extLst xmlns:a="http://schemas.openxmlformats.org/drawingml/2006/main">
              <a:ext uri="{FF2B5EF4-FFF2-40B4-BE49-F238E27FC236}">
                <a16:creationId xmlns:a16="http://schemas.microsoft.com/office/drawing/2014/main" id="{669C7004-3517-452A-A19B-DA560B61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38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文档 A</a:t>
            </a:r>
          </a:p>
        </p:txBody>
      </p:sp>
      <p:sp>
        <p:nvSpPr>
          <p:cNvPr id="5" name="文档 B">
            <a:extLst xmlns:a="http://schemas.openxmlformats.org/drawingml/2006/main">
              <a:ext uri="{FF2B5EF4-FFF2-40B4-BE49-F238E27FC236}">
                <a16:creationId xmlns:a16="http://schemas.microsoft.com/office/drawing/2014/main" id="{4D0A0010-0017-4868-AA69-AA232AA2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62200"/>
            <a:ext cx="238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文档 B</a:t>
            </a:r>
          </a:p>
        </p:txBody>
      </p:sp>
      <p:sp>
        <p:nvSpPr>
          <p:cNvPr id="6" name="文档 C">
            <a:extLst xmlns:a="http://schemas.openxmlformats.org/drawingml/2006/main">
              <a:ext uri="{FF2B5EF4-FFF2-40B4-BE49-F238E27FC236}">
                <a16:creationId xmlns:a16="http://schemas.microsoft.com/office/drawing/2014/main" id="{D7CEA309-156A-4C0A-8306-28532630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62200"/>
            <a:ext cx="238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A7BAC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文档 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52332-183D-43C9-8AE3-A96A05BB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1104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D8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EFCB8-39EA-4BB8-B403-988870DF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47950"/>
            <a:ext cx="1104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5D8C"/>
          </a:solidFill>
          <a:ln xmlns:a="http://schemas.openxmlformats.org/drawingml/2006/main" w="0">
            <a:noFill/>
          </a:ln>
        </p:spPr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0BA68-68FC-4709-8634-2C1F83934A76}"/>
              </a:ext>
            </a:extLst>
          </p:cNvPr>
          <p:cNvGraphicFramePr/>
          <p:nvPr/>
        </p:nvGraphicFramePr>
        <p:xfrm>
          <a:off xmlns:a="http://schemas.openxmlformats.org/drawingml/2006/main" x="609600" y="3714750"/>
          <a:ext xmlns:a="http://schemas.openxmlformats.org/drawingml/2006/main" cx="109728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523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邻接表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引用目标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B，C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BFS 使用 visited 处理环；遍历与存储 O(V+E">
            <a:extLst xmlns:a="http://schemas.openxmlformats.org/drawingml/2006/main">
              <a:ext uri="{FF2B5EF4-FFF2-40B4-BE49-F238E27FC236}">
                <a16:creationId xmlns:a16="http://schemas.microsoft.com/office/drawing/2014/main" id="{286FDB6D-6D8E-4279-B9F5-ED6FFED1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BFS 使用 visited 处理环；遍历与存储 O(V+E)</a:t>
            </a:r>
          </a:p>
        </p:txBody>
      </p:sp>
      <p:sp>
        <p:nvSpPr>
          <p:cNvPr id="11" name="图示主链 A → B → C；完整边集合以邻接表为准">
            <a:extLst xmlns:a="http://schemas.openxmlformats.org/drawingml/2006/main">
              <a:ext uri="{FF2B5EF4-FFF2-40B4-BE49-F238E27FC236}">
                <a16:creationId xmlns:a16="http://schemas.microsoft.com/office/drawing/2014/main" id="{D6A6D8BF-7604-4F9F-9D88-7A0D5B94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图示主链 A → B → C；完整边集合以邻接表为准</a:t>
            </a:r>
          </a:p>
        </p:txBody>
      </p:sp>
    </p:spTree>
    <p:extLst>
      <p:ext uri="{BB962C8B-B14F-4D97-AF65-F5344CB8AC3E}">
        <p14:creationId xmlns:p14="http://schemas.microsoft.com/office/powerpoint/2010/main" val="21269658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平衡树文本索引扩展设计">
            <a:extLst xmlns:a="http://schemas.openxmlformats.org/drawingml/2006/main">
              <a:ext uri="{FF2B5EF4-FFF2-40B4-BE49-F238E27FC236}">
                <a16:creationId xmlns:a16="http://schemas.microsoft.com/office/drawing/2014/main" id="{75A71660-199A-4B2E-987A-BEBB4B48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平衡树文本索引扩展设计</a:t>
            </a:r>
          </a:p>
        </p:txBody>
      </p:sp>
      <p:sp>
        <p:nvSpPr>
          <p:cNvPr id="2" name="22">
            <a:extLst xmlns:a="http://schemas.openxmlformats.org/drawingml/2006/main">
              <a:ext uri="{FF2B5EF4-FFF2-40B4-BE49-F238E27FC236}">
                <a16:creationId xmlns:a16="http://schemas.microsoft.com/office/drawing/2014/main" id="{7F7B7A87-2967-4EB3-9959-4B05CF4C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51833-6414-49DB-9E43-526ED5743F41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9248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节点字段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pieceLength / newlineCount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该片段字符数与换行数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subtreeLength / subtreeLines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整棵子树汇总，支持按偏移或行号定位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left / right / height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 AVL 高度平衡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中序导出等于参考文本，旋转后汇总与平衡因子正确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4" name="依赖 Piece Table 片段层，定位可降为 O(log">
            <a:extLst xmlns:a="http://schemas.openxmlformats.org/drawingml/2006/main">
              <a:ext uri="{FF2B5EF4-FFF2-40B4-BE49-F238E27FC236}">
                <a16:creationId xmlns:a16="http://schemas.microsoft.com/office/drawing/2014/main" id="{8F8D8EEF-57FC-4776-9C7A-E174A011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依赖 Piece Table 片段层，定位可降为 O(log P)</a:t>
            </a:r>
          </a:p>
        </p:txBody>
      </p:sp>
      <p:sp>
        <p:nvSpPr>
          <p:cNvPr id="5" name="尚未实现；新增索引要同步编辑、历史、Unicode 与保存测">
            <a:extLst xmlns:a="http://schemas.openxmlformats.org/drawingml/2006/main">
              <a:ext uri="{FF2B5EF4-FFF2-40B4-BE49-F238E27FC236}">
                <a16:creationId xmlns:a16="http://schemas.microsoft.com/office/drawing/2014/main" id="{0BCE7853-025A-415D-A601-688CA039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尚未实现；新增索引要同步编辑、历史、Unicode 与保存测试</a:t>
            </a:r>
          </a:p>
        </p:txBody>
      </p:sp>
    </p:spTree>
    <p:extLst>
      <p:ext uri="{BB962C8B-B14F-4D97-AF65-F5344CB8AC3E}">
        <p14:creationId xmlns:p14="http://schemas.microsoft.com/office/powerpoint/2010/main" val="137636775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成果与答辩结论">
            <a:extLst xmlns:a="http://schemas.openxmlformats.org/drawingml/2006/main">
              <a:ext uri="{FF2B5EF4-FFF2-40B4-BE49-F238E27FC236}">
                <a16:creationId xmlns:a16="http://schemas.microsoft.com/office/drawing/2014/main" id="{6E8927E4-AFB2-4D23-A83B-9A16ED20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成果与答辩结论</a:t>
            </a:r>
          </a:p>
        </p:txBody>
      </p:sp>
      <p:sp>
        <p:nvSpPr>
          <p:cNvPr id="2" name="23">
            <a:extLst xmlns:a="http://schemas.openxmlformats.org/drawingml/2006/main">
              <a:ext uri="{FF2B5EF4-FFF2-40B4-BE49-F238E27FC236}">
                <a16:creationId xmlns:a16="http://schemas.microsoft.com/office/drawing/2014/main" id="{8EDB23B2-D0BF-4EFF-AFC7-6D1612FD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575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82C9216B-20C1-4E0D-B640-3411F5B4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完成 Android 与 Windows 的共享核心文本编辑">
            <a:extLst xmlns:a="http://schemas.openxmlformats.org/drawingml/2006/main">
              <a:ext uri="{FF2B5EF4-FFF2-40B4-BE49-F238E27FC236}">
                <a16:creationId xmlns:a16="http://schemas.microsoft.com/office/drawing/2014/main" id="{752C9DA6-D9F1-4718-A9FE-FC953B8A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764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完成 Android 与 Windows 的共享核心文本编辑器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24673CB4-6D7F-4603-AE33-1710859D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技术重点：间隙缓冲区、命令双栈、KMP 与 Unicode">
            <a:extLst xmlns:a="http://schemas.openxmlformats.org/drawingml/2006/main">
              <a:ext uri="{FF2B5EF4-FFF2-40B4-BE49-F238E27FC236}">
                <a16:creationId xmlns:a16="http://schemas.microsoft.com/office/drawing/2014/main" id="{ADA699D7-265C-413D-914B-AEFD8DA9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051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技术重点：间隙缓冲区、命令双栈、KMP 与 Unicode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ACBBCF13-BB7B-410A-B6FD-36BCD7BD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6 类已用结构有源码证据，7 项扩展有设计边界">
            <a:extLst xmlns:a="http://schemas.openxmlformats.org/drawingml/2006/main">
              <a:ext uri="{FF2B5EF4-FFF2-40B4-BE49-F238E27FC236}">
                <a16:creationId xmlns:a16="http://schemas.microsoft.com/office/drawing/2014/main" id="{D78FA902-BA76-4148-8C75-F3ECB606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6 类已用结构有源码证据，7 项扩展有设计边界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501C0C89-3368-4366-B84D-AE4F13DC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5D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报告附复杂度、历史性能、测试范围与现场演示步骤">
            <a:extLst xmlns:a="http://schemas.openxmlformats.org/drawingml/2006/main">
              <a:ext uri="{FF2B5EF4-FFF2-40B4-BE49-F238E27FC236}">
                <a16:creationId xmlns:a16="http://schemas.microsoft.com/office/drawing/2014/main" id="{390D9314-5DC6-4324-9665-B2175432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625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报告附复杂度、历史性能、测试范围与现场演示步骤</a:t>
            </a:r>
          </a:p>
        </p:txBody>
      </p:sp>
    </p:spTree>
    <p:extLst>
      <p:ext uri="{BB962C8B-B14F-4D97-AF65-F5344CB8AC3E}">
        <p14:creationId xmlns:p14="http://schemas.microsoft.com/office/powerpoint/2010/main" val="298368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2026-10-28T05:56:36.6830000Z</dcterms:created>
  <dcterms:modified xsi:type="dcterms:W3CDTF">2026-10-28T05:56:36.6830000Z</dcterms:modified>
</coreProperties>
</file>